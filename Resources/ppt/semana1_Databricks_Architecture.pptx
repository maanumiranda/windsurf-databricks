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>
        <p:scale>
          <a:sx n="208" d="100"/>
          <a:sy n="208" d="100"/>
        </p:scale>
        <p:origin x="704" y="-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359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CF6A56-4FAD-48AD-F4AA-7973D4D4FD0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62450" y="4927600"/>
            <a:ext cx="4445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R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3621">
              <a:alpha val="12000"/>
            </a:srgbClr>
          </a:solidFill>
          <a:ln w="12700">
            <a:solidFill>
              <a:srgbClr val="FF3621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" name="Shape 2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00ADD4">
              <a:alpha val="12000"/>
            </a:srgbClr>
          </a:solidFill>
          <a:ln w="12700">
            <a:solidFill>
              <a:srgbClr val="00ADD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· Apache Spark · Lakehouse Platform · File &amp; Storage Formats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4572000" cy="640080"/>
          </a:xfrm>
          <a:prstGeom prst="rect">
            <a:avLst/>
          </a:prstGeom>
          <a:solidFill>
            <a:srgbClr val="FF3621">
              <a:alpha val="15000"/>
            </a:srgbClr>
          </a:solidFill>
          <a:ln w="12700">
            <a:solidFill>
              <a:srgbClr val="FF362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" name="Text 7"/>
          <p:cNvSpPr/>
          <p:nvPr/>
        </p:nvSpPr>
        <p:spPr>
          <a:xfrm>
            <a:off x="457200" y="404164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Analytics · AI &amp; ML · Real-Time Streaming · Governance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640080"/>
            <a:ext cx="1554480" cy="1005840"/>
          </a:xfrm>
          <a:prstGeom prst="rect">
            <a:avLst/>
          </a:prstGeom>
          <a:solidFill>
            <a:srgbClr val="FF3621">
              <a:alpha val="18000"/>
            </a:srgbClr>
          </a:solidFill>
          <a:ln w="12700">
            <a:solidFill>
              <a:srgbClr val="FF362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1" name="Shape 9"/>
          <p:cNvSpPr/>
          <p:nvPr/>
        </p:nvSpPr>
        <p:spPr>
          <a:xfrm>
            <a:off x="5577840" y="640080"/>
            <a:ext cx="54864" cy="100584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2" name="Text 10"/>
          <p:cNvSpPr/>
          <p:nvPr/>
        </p:nvSpPr>
        <p:spPr>
          <a:xfrm>
            <a:off x="5650992" y="64008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Architecture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1828800"/>
            <a:ext cx="1554480" cy="1005840"/>
          </a:xfrm>
          <a:prstGeom prst="rect">
            <a:avLst/>
          </a:prstGeom>
          <a:solidFill>
            <a:srgbClr val="00ADD4">
              <a:alpha val="18000"/>
            </a:srgbClr>
          </a:solidFill>
          <a:ln w="12700">
            <a:solidFill>
              <a:srgbClr val="00AD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4" name="Shape 12"/>
          <p:cNvSpPr/>
          <p:nvPr/>
        </p:nvSpPr>
        <p:spPr>
          <a:xfrm>
            <a:off x="5577840" y="1828800"/>
            <a:ext cx="54864" cy="1005840"/>
          </a:xfrm>
          <a:prstGeom prst="rect">
            <a:avLst/>
          </a:prstGeom>
          <a:solidFill>
            <a:srgbClr val="00ADD4"/>
          </a:solidFill>
          <a:ln w="12700">
            <a:solidFill>
              <a:srgbClr val="00ADD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5" name="Text 13"/>
          <p:cNvSpPr/>
          <p:nvPr/>
        </p:nvSpPr>
        <p:spPr>
          <a:xfrm>
            <a:off x="5650992" y="182880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Deep Dive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3017520"/>
            <a:ext cx="1554480" cy="1005840"/>
          </a:xfrm>
          <a:prstGeom prst="rect">
            <a:avLst/>
          </a:prstGeom>
          <a:solidFill>
            <a:srgbClr val="E25A1C">
              <a:alpha val="18000"/>
            </a:srgbClr>
          </a:solidFill>
          <a:ln w="12700">
            <a:solidFill>
              <a:srgbClr val="E25A1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7" name="Shape 15"/>
          <p:cNvSpPr/>
          <p:nvPr/>
        </p:nvSpPr>
        <p:spPr>
          <a:xfrm>
            <a:off x="5577840" y="3017520"/>
            <a:ext cx="54864" cy="100584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8" name="Text 16"/>
          <p:cNvSpPr/>
          <p:nvPr/>
        </p:nvSpPr>
        <p:spPr>
          <a:xfrm>
            <a:off x="5650992" y="301752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Engine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0" y="640080"/>
            <a:ext cx="1554480" cy="1005840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0" name="Shape 18"/>
          <p:cNvSpPr/>
          <p:nvPr/>
        </p:nvSpPr>
        <p:spPr>
          <a:xfrm>
            <a:off x="7315200" y="640080"/>
            <a:ext cx="54864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1" name="Text 19"/>
          <p:cNvSpPr/>
          <p:nvPr/>
        </p:nvSpPr>
        <p:spPr>
          <a:xfrm>
            <a:off x="7388352" y="64008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Storage Formats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1828800"/>
            <a:ext cx="1554480" cy="1005840"/>
          </a:xfrm>
          <a:prstGeom prst="rect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3" name="Shape 21"/>
          <p:cNvSpPr/>
          <p:nvPr/>
        </p:nvSpPr>
        <p:spPr>
          <a:xfrm>
            <a:off x="7315200" y="1828800"/>
            <a:ext cx="54864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4" name="Text 22"/>
          <p:cNvSpPr/>
          <p:nvPr/>
        </p:nvSpPr>
        <p:spPr>
          <a:xfrm>
            <a:off x="7388352" y="182880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3017520"/>
            <a:ext cx="1554480" cy="1005840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6" name="Shape 24"/>
          <p:cNvSpPr/>
          <p:nvPr/>
        </p:nvSpPr>
        <p:spPr>
          <a:xfrm>
            <a:off x="7315200" y="3017520"/>
            <a:ext cx="54864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7" name="Text 25"/>
          <p:cNvSpPr/>
          <p:nvPr/>
        </p:nvSpPr>
        <p:spPr>
          <a:xfrm>
            <a:off x="7388352" y="301752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ARCHITECTURE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" cy="685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Text 4"/>
          <p:cNvSpPr/>
          <p:nvPr/>
        </p:nvSpPr>
        <p:spPr>
          <a:xfrm>
            <a:off x="457200" y="8138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064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 ·  Azure ADLS  ·  GCS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463040"/>
            <a:ext cx="182880" cy="9144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" name="Shape 7"/>
          <p:cNvSpPr/>
          <p:nvPr/>
        </p:nvSpPr>
        <p:spPr>
          <a:xfrm>
            <a:off x="182880" y="1572768"/>
            <a:ext cx="8595360" cy="685800"/>
          </a:xfrm>
          <a:prstGeom prst="rect">
            <a:avLst/>
          </a:prstGeom>
          <a:solidFill>
            <a:srgbClr val="00ADD4">
              <a:alpha val="20000"/>
            </a:srgbClr>
          </a:solidFill>
          <a:ln w="12700">
            <a:solidFill>
              <a:srgbClr val="00AD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54864" cy="685800"/>
          </a:xfrm>
          <a:prstGeom prst="rect">
            <a:avLst/>
          </a:prstGeom>
          <a:solidFill>
            <a:srgbClr val="00ADD4"/>
          </a:solidFill>
          <a:ln w="12700">
            <a:solidFill>
              <a:srgbClr val="00ADD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1" name="Text 9"/>
          <p:cNvSpPr/>
          <p:nvPr/>
        </p:nvSpPr>
        <p:spPr>
          <a:xfrm>
            <a:off x="457200" y="1609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01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  ·  Schema Enforcement  ·  Time Travel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2258568"/>
            <a:ext cx="182880" cy="9144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4" name="Shape 12"/>
          <p:cNvSpPr/>
          <p:nvPr/>
        </p:nvSpPr>
        <p:spPr>
          <a:xfrm>
            <a:off x="274320" y="2368296"/>
            <a:ext cx="8595360" cy="685800"/>
          </a:xfrm>
          <a:prstGeom prst="rect">
            <a:avLst/>
          </a:prstGeom>
          <a:solidFill>
            <a:srgbClr val="E25A1C">
              <a:alpha val="20000"/>
            </a:srgbClr>
          </a:solidFill>
          <a:ln w="12700">
            <a:solidFill>
              <a:srgbClr val="E25A1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5" name="Shape 13"/>
          <p:cNvSpPr/>
          <p:nvPr/>
        </p:nvSpPr>
        <p:spPr>
          <a:xfrm>
            <a:off x="274320" y="2368296"/>
            <a:ext cx="54864" cy="6858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6" name="Text 14"/>
          <p:cNvSpPr/>
          <p:nvPr/>
        </p:nvSpPr>
        <p:spPr>
          <a:xfrm>
            <a:off x="457200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 ·  SQL Warehouses  ·  ML Runtime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3054096"/>
            <a:ext cx="182880" cy="9144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9" name="Shape 17"/>
          <p:cNvSpPr/>
          <p:nvPr/>
        </p:nvSpPr>
        <p:spPr>
          <a:xfrm>
            <a:off x="274320" y="3163824"/>
            <a:ext cx="8595360" cy="685800"/>
          </a:xfrm>
          <a:prstGeom prst="rect">
            <a:avLst/>
          </a:prstGeom>
          <a:solidFill>
            <a:srgbClr val="FF3621">
              <a:alpha val="20000"/>
            </a:srgbClr>
          </a:solidFill>
          <a:ln w="12700">
            <a:solidFill>
              <a:srgbClr val="FF362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0" name="Shape 18"/>
          <p:cNvSpPr/>
          <p:nvPr/>
        </p:nvSpPr>
        <p:spPr>
          <a:xfrm>
            <a:off x="274320" y="3163824"/>
            <a:ext cx="54864" cy="6858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PLATFORM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 ·  Jobs  ·  MLflow  ·  Unity Catalog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3849624"/>
            <a:ext cx="182880" cy="9144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4" name="Shape 22"/>
          <p:cNvSpPr/>
          <p:nvPr/>
        </p:nvSpPr>
        <p:spPr>
          <a:xfrm>
            <a:off x="274320" y="3959352"/>
            <a:ext cx="8595360" cy="685800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5" name="Shape 23"/>
          <p:cNvSpPr/>
          <p:nvPr/>
        </p:nvSpPr>
        <p:spPr>
          <a:xfrm>
            <a:off x="274320" y="3959352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6" name="Text 24"/>
          <p:cNvSpPr/>
          <p:nvPr/>
        </p:nvSpPr>
        <p:spPr>
          <a:xfrm>
            <a:off x="457200" y="3995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Dashboards  ·  Data Science  ·  ML Models  ·  APIs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777240"/>
            <a:ext cx="54864" cy="2962656"/>
          </a:xfrm>
          <a:prstGeom prst="rect">
            <a:avLst/>
          </a:prstGeom>
          <a:solidFill>
            <a:srgbClr val="4488AA">
              <a:alpha val="60000"/>
            </a:srgbClr>
          </a:solidFill>
          <a:ln w="12700">
            <a:solidFill>
              <a:srgbClr val="4488AA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DD4"/>
          </a:solidFill>
          <a:ln w="12700">
            <a:solidFill>
              <a:srgbClr val="00ADD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2743200" cy="4114800"/>
          </a:xfrm>
          <a:prstGeom prst="rect">
            <a:avLst/>
          </a:prstGeom>
          <a:solidFill>
            <a:srgbClr val="1E2A3A"/>
          </a:solidFill>
          <a:ln w="12700">
            <a:solidFill>
              <a:srgbClr val="00AD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2743200" cy="365760"/>
          </a:xfrm>
          <a:prstGeom prst="rect">
            <a:avLst/>
          </a:prstGeom>
          <a:solidFill>
            <a:srgbClr val="00ADD4">
              <a:alpha val="80000"/>
            </a:srgbClr>
          </a:solidFill>
          <a:ln w="12700">
            <a:solidFill>
              <a:srgbClr val="00ADD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" name="Text 5"/>
          <p:cNvSpPr/>
          <p:nvPr/>
        </p:nvSpPr>
        <p:spPr>
          <a:xfrm>
            <a:off x="320040" y="731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 (_delta_log)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560320" cy="32004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D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000000.json — Initial commit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2560320" cy="320040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1" name="Text 9"/>
          <p:cNvSpPr/>
          <p:nvPr/>
        </p:nvSpPr>
        <p:spPr>
          <a:xfrm>
            <a:off x="411480" y="1581912"/>
            <a:ext cx="24688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D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000001.json — Add files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975104"/>
            <a:ext cx="2560320" cy="32004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3" name="Text 11"/>
          <p:cNvSpPr/>
          <p:nvPr/>
        </p:nvSpPr>
        <p:spPr>
          <a:xfrm>
            <a:off x="411480" y="1975104"/>
            <a:ext cx="24688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D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000002.json — Schema change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68296"/>
            <a:ext cx="2560320" cy="320040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 dirty="0"/>
          </a:p>
        </p:txBody>
      </p:sp>
      <p:sp>
        <p:nvSpPr>
          <p:cNvPr id="15" name="Text 13"/>
          <p:cNvSpPr/>
          <p:nvPr/>
        </p:nvSpPr>
        <p:spPr>
          <a:xfrm>
            <a:off x="411480" y="2368296"/>
            <a:ext cx="24688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D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000003.json — Delete records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761488"/>
            <a:ext cx="2560320" cy="32004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7" name="Text 15"/>
          <p:cNvSpPr/>
          <p:nvPr/>
        </p:nvSpPr>
        <p:spPr>
          <a:xfrm>
            <a:off x="411480" y="2761488"/>
            <a:ext cx="24688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D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000004.json — Compact (OPTIMIZE)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2560320" cy="320040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9" name="Text 17"/>
          <p:cNvSpPr/>
          <p:nvPr/>
        </p:nvSpPr>
        <p:spPr>
          <a:xfrm>
            <a:off x="411480" y="3154680"/>
            <a:ext cx="24688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000010.checkpoint.parquet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547872"/>
            <a:ext cx="2560320" cy="32004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1" name="Text 19"/>
          <p:cNvSpPr/>
          <p:nvPr/>
        </p:nvSpPr>
        <p:spPr>
          <a:xfrm>
            <a:off x="411480" y="3547872"/>
            <a:ext cx="24688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metadata (stats, schema)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941064"/>
            <a:ext cx="2560320" cy="320040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3" name="Text 21"/>
          <p:cNvSpPr/>
          <p:nvPr/>
        </p:nvSpPr>
        <p:spPr>
          <a:xfrm>
            <a:off x="411480" y="3941064"/>
            <a:ext cx="24688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Add/Remove file actions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731520"/>
            <a:ext cx="2560320" cy="4114800"/>
          </a:xfrm>
          <a:prstGeom prst="rect">
            <a:avLst/>
          </a:prstGeom>
          <a:solidFill>
            <a:srgbClr val="1E2A3A"/>
          </a:solidFill>
          <a:ln w="12700">
            <a:solidFill>
              <a:srgbClr val="E25A1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5" name="Shape 23"/>
          <p:cNvSpPr/>
          <p:nvPr/>
        </p:nvSpPr>
        <p:spPr>
          <a:xfrm>
            <a:off x="3291840" y="731520"/>
            <a:ext cx="2560320" cy="365760"/>
          </a:xfrm>
          <a:prstGeom prst="rect">
            <a:avLst/>
          </a:prstGeom>
          <a:solidFill>
            <a:srgbClr val="E25A1C">
              <a:alpha val="80000"/>
            </a:srgbClr>
          </a:solidFill>
          <a:ln w="12700">
            <a:solidFill>
              <a:srgbClr val="E25A1C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6" name="Text 24"/>
          <p:cNvSpPr/>
          <p:nvPr/>
        </p:nvSpPr>
        <p:spPr>
          <a:xfrm>
            <a:off x="3337560" y="731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 (Parquet)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1188720"/>
            <a:ext cx="2377440" cy="411480"/>
          </a:xfrm>
          <a:prstGeom prst="rect">
            <a:avLst/>
          </a:prstGeom>
          <a:solidFill>
            <a:srgbClr val="1A2535"/>
          </a:solidFill>
          <a:ln w="12700">
            <a:solidFill>
              <a:srgbClr val="E25A1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8" name="Text 26"/>
          <p:cNvSpPr/>
          <p:nvPr/>
        </p:nvSpPr>
        <p:spPr>
          <a:xfrm>
            <a:off x="342900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part-0001.parquet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57800" y="1188720"/>
            <a:ext cx="502920" cy="411480"/>
          </a:xfrm>
          <a:prstGeom prst="rect">
            <a:avLst/>
          </a:prstGeom>
          <a:solidFill>
            <a:srgbClr val="E25A1C">
              <a:alpha val="25000"/>
            </a:srgbClr>
          </a:solidFill>
          <a:ln w="12700">
            <a:solidFill>
              <a:srgbClr val="E25A1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0" name="Text 28"/>
          <p:cNvSpPr/>
          <p:nvPr/>
        </p:nvSpPr>
        <p:spPr>
          <a:xfrm>
            <a:off x="5257800" y="1188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 MB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83280" y="1691640"/>
            <a:ext cx="2377440" cy="411480"/>
          </a:xfrm>
          <a:prstGeom prst="rect">
            <a:avLst/>
          </a:prstGeom>
          <a:solidFill>
            <a:srgbClr val="1A2535"/>
          </a:solidFill>
          <a:ln w="12700">
            <a:solidFill>
              <a:srgbClr val="E25A1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2" name="Text 30"/>
          <p:cNvSpPr/>
          <p:nvPr/>
        </p:nvSpPr>
        <p:spPr>
          <a:xfrm>
            <a:off x="342900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part-0002.parquet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57800" y="1691640"/>
            <a:ext cx="502920" cy="411480"/>
          </a:xfrm>
          <a:prstGeom prst="rect">
            <a:avLst/>
          </a:prstGeom>
          <a:solidFill>
            <a:srgbClr val="E25A1C">
              <a:alpha val="25000"/>
            </a:srgbClr>
          </a:solidFill>
          <a:ln w="12700">
            <a:solidFill>
              <a:srgbClr val="E25A1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4" name="Text 32"/>
          <p:cNvSpPr/>
          <p:nvPr/>
        </p:nvSpPr>
        <p:spPr>
          <a:xfrm>
            <a:off x="5257800" y="16916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 MB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383280" y="2194560"/>
            <a:ext cx="2377440" cy="411480"/>
          </a:xfrm>
          <a:prstGeom prst="rect">
            <a:avLst/>
          </a:prstGeom>
          <a:solidFill>
            <a:srgbClr val="1A2535"/>
          </a:solidFill>
          <a:ln w="12700">
            <a:solidFill>
              <a:srgbClr val="E25A1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6" name="Text 34"/>
          <p:cNvSpPr/>
          <p:nvPr/>
        </p:nvSpPr>
        <p:spPr>
          <a:xfrm>
            <a:off x="342900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part-0003.parquet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257800" y="2194560"/>
            <a:ext cx="502920" cy="411480"/>
          </a:xfrm>
          <a:prstGeom prst="rect">
            <a:avLst/>
          </a:prstGeom>
          <a:solidFill>
            <a:srgbClr val="E25A1C">
              <a:alpha val="25000"/>
            </a:srgbClr>
          </a:solidFill>
          <a:ln w="12700">
            <a:solidFill>
              <a:srgbClr val="E25A1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8" name="Text 36"/>
          <p:cNvSpPr/>
          <p:nvPr/>
        </p:nvSpPr>
        <p:spPr>
          <a:xfrm>
            <a:off x="5257800" y="2194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142 MB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383280" y="2697480"/>
            <a:ext cx="2377440" cy="411480"/>
          </a:xfrm>
          <a:prstGeom prst="rect">
            <a:avLst/>
          </a:prstGeom>
          <a:solidFill>
            <a:srgbClr val="1A2535"/>
          </a:solidFill>
          <a:ln w="12700">
            <a:solidFill>
              <a:srgbClr val="E25A1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0" name="Text 38"/>
          <p:cNvSpPr/>
          <p:nvPr/>
        </p:nvSpPr>
        <p:spPr>
          <a:xfrm>
            <a:off x="342900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part-0004.parquet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57800" y="2697480"/>
            <a:ext cx="502920" cy="411480"/>
          </a:xfrm>
          <a:prstGeom prst="rect">
            <a:avLst/>
          </a:prstGeom>
          <a:solidFill>
            <a:srgbClr val="E25A1C">
              <a:alpha val="25000"/>
            </a:srgbClr>
          </a:solidFill>
          <a:ln w="12700">
            <a:solidFill>
              <a:srgbClr val="E25A1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2" name="Text 40"/>
          <p:cNvSpPr/>
          <p:nvPr/>
        </p:nvSpPr>
        <p:spPr>
          <a:xfrm>
            <a:off x="5257800" y="2697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 MB  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126480" y="731520"/>
            <a:ext cx="2743200" cy="4114800"/>
          </a:xfrm>
          <a:prstGeom prst="rect">
            <a:avLst/>
          </a:prstGeom>
          <a:solidFill>
            <a:srgbClr val="1E2A3A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4" name="Shape 42"/>
          <p:cNvSpPr/>
          <p:nvPr/>
        </p:nvSpPr>
        <p:spPr>
          <a:xfrm>
            <a:off x="6126480" y="731520"/>
            <a:ext cx="2743200" cy="36576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5" name="Text 43"/>
          <p:cNvSpPr/>
          <p:nvPr/>
        </p:nvSpPr>
        <p:spPr>
          <a:xfrm>
            <a:off x="6172200" y="731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1188720"/>
            <a:ext cx="274320" cy="274320"/>
          </a:xfrm>
          <a:prstGeom prst="ellipse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7" name="Text 45"/>
          <p:cNvSpPr/>
          <p:nvPr/>
        </p:nvSpPr>
        <p:spPr>
          <a:xfrm>
            <a:off x="6217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65392" y="11704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565392" y="13350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atomicity, consistency, isolation, durability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17920" y="1764792"/>
            <a:ext cx="274320" cy="274320"/>
          </a:xfrm>
          <a:prstGeom prst="ellipse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1" name="Text 49"/>
          <p:cNvSpPr/>
          <p:nvPr/>
        </p:nvSpPr>
        <p:spPr>
          <a:xfrm>
            <a:off x="6217920" y="1764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565392" y="17465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Travel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65392" y="19110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historical versions with VERSION AS OF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17920" y="2340864"/>
            <a:ext cx="274320" cy="274320"/>
          </a:xfrm>
          <a:prstGeom prst="ellipse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5" name="Text 53"/>
          <p:cNvSpPr/>
          <p:nvPr/>
        </p:nvSpPr>
        <p:spPr>
          <a:xfrm>
            <a:off x="621792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565392" y="23225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65392" y="2487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Add/modify columns without rewriting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17920" y="2916936"/>
            <a:ext cx="274320" cy="274320"/>
          </a:xfrm>
          <a:prstGeom prst="ellipse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9" name="Text 57"/>
          <p:cNvSpPr/>
          <p:nvPr/>
        </p:nvSpPr>
        <p:spPr>
          <a:xfrm>
            <a:off x="621792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565392" y="28986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Upserts (MERGE)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65392" y="3063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 in one operation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217920" y="3493008"/>
            <a:ext cx="274320" cy="274320"/>
          </a:xfrm>
          <a:prstGeom prst="ellipse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3" name="Text 61"/>
          <p:cNvSpPr/>
          <p:nvPr/>
        </p:nvSpPr>
        <p:spPr>
          <a:xfrm>
            <a:off x="621792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565392" y="3474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&amp; Z-ORDER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565392" y="3639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small files, co-locate related data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217920" y="4069080"/>
            <a:ext cx="274320" cy="274320"/>
          </a:xfrm>
          <a:prstGeom prst="ellipse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7" name="Text 65"/>
          <p:cNvSpPr/>
          <p:nvPr/>
        </p:nvSpPr>
        <p:spPr>
          <a:xfrm>
            <a:off x="621792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565392" y="40507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565392" y="42153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stale files older than retention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ENGINE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926080" y="685800"/>
            <a:ext cx="3291840" cy="1005840"/>
          </a:xfrm>
          <a:prstGeom prst="rect">
            <a:avLst/>
          </a:prstGeom>
          <a:solidFill>
            <a:srgbClr val="1E2A3A"/>
          </a:solidFill>
          <a:ln w="12700">
            <a:solidFill>
              <a:srgbClr val="E25A1C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Shape 3"/>
          <p:cNvSpPr/>
          <p:nvPr/>
        </p:nvSpPr>
        <p:spPr>
          <a:xfrm>
            <a:off x="2926080" y="685800"/>
            <a:ext cx="3291840" cy="274320"/>
          </a:xfrm>
          <a:prstGeom prst="rect">
            <a:avLst/>
          </a:prstGeom>
          <a:solidFill>
            <a:srgbClr val="E25A1C">
              <a:alpha val="70000"/>
            </a:srgbClr>
          </a:solidFill>
          <a:ln w="12700">
            <a:solidFill>
              <a:srgbClr val="E25A1C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Text 4"/>
          <p:cNvSpPr/>
          <p:nvPr/>
        </p:nvSpPr>
        <p:spPr>
          <a:xfrm>
            <a:off x="2926080" y="685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NODE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1005840"/>
            <a:ext cx="3108960" cy="18288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8" name="Text 6"/>
          <p:cNvSpPr/>
          <p:nvPr/>
        </p:nvSpPr>
        <p:spPr>
          <a:xfrm>
            <a:off x="3063240" y="1005840"/>
            <a:ext cx="30175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SparkContext / SparkSession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207008"/>
            <a:ext cx="3108960" cy="18288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" name="Text 8"/>
          <p:cNvSpPr/>
          <p:nvPr/>
        </p:nvSpPr>
        <p:spPr>
          <a:xfrm>
            <a:off x="3063240" y="1207008"/>
            <a:ext cx="30175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Scheduler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17520" y="1408176"/>
            <a:ext cx="3108960" cy="18288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2" name="Text 10"/>
          <p:cNvSpPr/>
          <p:nvPr/>
        </p:nvSpPr>
        <p:spPr>
          <a:xfrm>
            <a:off x="3063240" y="1408176"/>
            <a:ext cx="30175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965960"/>
            <a:ext cx="2377440" cy="1554480"/>
          </a:xfrm>
          <a:prstGeom prst="rect">
            <a:avLst/>
          </a:prstGeom>
          <a:solidFill>
            <a:srgbClr val="1E2A3A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4" name="Shape 12"/>
          <p:cNvSpPr/>
          <p:nvPr/>
        </p:nvSpPr>
        <p:spPr>
          <a:xfrm>
            <a:off x="274320" y="1965960"/>
            <a:ext cx="2377440" cy="256032"/>
          </a:xfrm>
          <a:prstGeom prst="rect">
            <a:avLst/>
          </a:prstGeom>
          <a:solidFill>
            <a:srgbClr val="1F77B4">
              <a:alpha val="70000"/>
            </a:srgbClr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5" name="Text 13"/>
          <p:cNvSpPr/>
          <p:nvPr/>
        </p:nvSpPr>
        <p:spPr>
          <a:xfrm>
            <a:off x="274320" y="1965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2194560" cy="246888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7" name="Text 15"/>
          <p:cNvSpPr/>
          <p:nvPr/>
        </p:nvSpPr>
        <p:spPr>
          <a:xfrm>
            <a:off x="365760" y="228600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78608"/>
            <a:ext cx="2194560" cy="246888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9" name="Text 17"/>
          <p:cNvSpPr/>
          <p:nvPr/>
        </p:nvSpPr>
        <p:spPr>
          <a:xfrm>
            <a:off x="365760" y="257860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871216"/>
            <a:ext cx="2194560" cy="246888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1" name="Text 19"/>
          <p:cNvSpPr/>
          <p:nvPr/>
        </p:nvSpPr>
        <p:spPr>
          <a:xfrm>
            <a:off x="365760" y="287121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163824"/>
            <a:ext cx="2194560" cy="246888"/>
          </a:xfrm>
          <a:prstGeom prst="rect">
            <a:avLst/>
          </a:prstGeom>
          <a:solidFill>
            <a:srgbClr val="1A30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3" name="Text 21"/>
          <p:cNvSpPr/>
          <p:nvPr/>
        </p:nvSpPr>
        <p:spPr>
          <a:xfrm>
            <a:off x="365760" y="316382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(RDD/DF)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1965960"/>
            <a:ext cx="2377440" cy="1554480"/>
          </a:xfrm>
          <a:prstGeom prst="rect">
            <a:avLst/>
          </a:prstGeom>
          <a:solidFill>
            <a:srgbClr val="1E2A3A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5" name="Shape 23"/>
          <p:cNvSpPr/>
          <p:nvPr/>
        </p:nvSpPr>
        <p:spPr>
          <a:xfrm>
            <a:off x="3383280" y="1965960"/>
            <a:ext cx="2377440" cy="256032"/>
          </a:xfrm>
          <a:prstGeom prst="rect">
            <a:avLst/>
          </a:prstGeom>
          <a:solidFill>
            <a:srgbClr val="1F77B4">
              <a:alpha val="70000"/>
            </a:srgbClr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6" name="Text 24"/>
          <p:cNvSpPr/>
          <p:nvPr/>
        </p:nvSpPr>
        <p:spPr>
          <a:xfrm>
            <a:off x="3383280" y="1965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2286000"/>
            <a:ext cx="2194560" cy="246888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8" name="Text 26"/>
          <p:cNvSpPr/>
          <p:nvPr/>
        </p:nvSpPr>
        <p:spPr>
          <a:xfrm>
            <a:off x="3474720" y="228600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0" y="2578608"/>
            <a:ext cx="2194560" cy="246888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0" name="Text 28"/>
          <p:cNvSpPr/>
          <p:nvPr/>
        </p:nvSpPr>
        <p:spPr>
          <a:xfrm>
            <a:off x="3474720" y="257860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0" y="2871216"/>
            <a:ext cx="2194560" cy="246888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2" name="Text 30"/>
          <p:cNvSpPr/>
          <p:nvPr/>
        </p:nvSpPr>
        <p:spPr>
          <a:xfrm>
            <a:off x="3474720" y="287121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3163824"/>
            <a:ext cx="2194560" cy="246888"/>
          </a:xfrm>
          <a:prstGeom prst="rect">
            <a:avLst/>
          </a:prstGeom>
          <a:solidFill>
            <a:srgbClr val="1A30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4" name="Text 32"/>
          <p:cNvSpPr/>
          <p:nvPr/>
        </p:nvSpPr>
        <p:spPr>
          <a:xfrm>
            <a:off x="3474720" y="316382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(RDD/DF)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92240" y="1965960"/>
            <a:ext cx="2377440" cy="1554480"/>
          </a:xfrm>
          <a:prstGeom prst="rect">
            <a:avLst/>
          </a:prstGeom>
          <a:solidFill>
            <a:srgbClr val="1E2A3A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6" name="Shape 34"/>
          <p:cNvSpPr/>
          <p:nvPr/>
        </p:nvSpPr>
        <p:spPr>
          <a:xfrm>
            <a:off x="6492240" y="1965960"/>
            <a:ext cx="2377440" cy="256032"/>
          </a:xfrm>
          <a:prstGeom prst="rect">
            <a:avLst/>
          </a:prstGeom>
          <a:solidFill>
            <a:srgbClr val="1F77B4">
              <a:alpha val="70000"/>
            </a:srgbClr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7" name="Text 35"/>
          <p:cNvSpPr/>
          <p:nvPr/>
        </p:nvSpPr>
        <p:spPr>
          <a:xfrm>
            <a:off x="6492240" y="1965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83680" y="2286000"/>
            <a:ext cx="2194560" cy="246888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9" name="Text 37"/>
          <p:cNvSpPr/>
          <p:nvPr/>
        </p:nvSpPr>
        <p:spPr>
          <a:xfrm>
            <a:off x="6583680" y="228600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83680" y="2578608"/>
            <a:ext cx="2194560" cy="246888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1" name="Text 39"/>
          <p:cNvSpPr/>
          <p:nvPr/>
        </p:nvSpPr>
        <p:spPr>
          <a:xfrm>
            <a:off x="6583680" y="257860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83680" y="2871216"/>
            <a:ext cx="2194560" cy="246888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3" name="Text 41"/>
          <p:cNvSpPr/>
          <p:nvPr/>
        </p:nvSpPr>
        <p:spPr>
          <a:xfrm>
            <a:off x="6583680" y="287121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83680" y="3163824"/>
            <a:ext cx="2194560" cy="246888"/>
          </a:xfrm>
          <a:prstGeom prst="rect">
            <a:avLst/>
          </a:prstGeom>
          <a:solidFill>
            <a:srgbClr val="1A30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5" name="Text 43"/>
          <p:cNvSpPr/>
          <p:nvPr/>
        </p:nvSpPr>
        <p:spPr>
          <a:xfrm>
            <a:off x="6583680" y="316382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(RDD/DF)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371600" y="1691640"/>
            <a:ext cx="182880" cy="27432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7" name="Shape 45"/>
          <p:cNvSpPr/>
          <p:nvPr/>
        </p:nvSpPr>
        <p:spPr>
          <a:xfrm>
            <a:off x="4480560" y="1691640"/>
            <a:ext cx="182880" cy="27432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8" name="Shape 46"/>
          <p:cNvSpPr/>
          <p:nvPr/>
        </p:nvSpPr>
        <p:spPr>
          <a:xfrm>
            <a:off x="7589520" y="1691640"/>
            <a:ext cx="182880" cy="27432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9" name="Shape 47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solidFill>
            <a:srgbClr val="1A2535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0" name="Text 48"/>
          <p:cNvSpPr/>
          <p:nvPr/>
        </p:nvSpPr>
        <p:spPr>
          <a:xfrm>
            <a:off x="320040" y="3703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APIS: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371600" y="3749040"/>
            <a:ext cx="1143000" cy="201168"/>
          </a:xfrm>
          <a:prstGeom prst="rect">
            <a:avLst/>
          </a:prstGeom>
          <a:solidFill>
            <a:srgbClr val="E25A1C">
              <a:alpha val="25000"/>
            </a:srgbClr>
          </a:solidFill>
          <a:ln w="12700">
            <a:solidFill>
              <a:srgbClr val="E25A1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2" name="Text 50"/>
          <p:cNvSpPr/>
          <p:nvPr/>
        </p:nvSpPr>
        <p:spPr>
          <a:xfrm>
            <a:off x="1371600" y="37490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API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606040" y="3749040"/>
            <a:ext cx="1143000" cy="201168"/>
          </a:xfrm>
          <a:prstGeom prst="rect">
            <a:avLst/>
          </a:prstGeom>
          <a:solidFill>
            <a:srgbClr val="E25A1C">
              <a:alpha val="25000"/>
            </a:srgbClr>
          </a:solidFill>
          <a:ln w="12700">
            <a:solidFill>
              <a:srgbClr val="E25A1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4" name="Text 52"/>
          <p:cNvSpPr/>
          <p:nvPr/>
        </p:nvSpPr>
        <p:spPr>
          <a:xfrm>
            <a:off x="2606040" y="37490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840480" y="3749040"/>
            <a:ext cx="1143000" cy="201168"/>
          </a:xfrm>
          <a:prstGeom prst="rect">
            <a:avLst/>
          </a:prstGeom>
          <a:solidFill>
            <a:srgbClr val="E25A1C">
              <a:alpha val="25000"/>
            </a:srgbClr>
          </a:solidFill>
          <a:ln w="12700">
            <a:solidFill>
              <a:srgbClr val="E25A1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6" name="Text 54"/>
          <p:cNvSpPr/>
          <p:nvPr/>
        </p:nvSpPr>
        <p:spPr>
          <a:xfrm>
            <a:off x="3840480" y="37490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074920" y="3749040"/>
            <a:ext cx="1143000" cy="201168"/>
          </a:xfrm>
          <a:prstGeom prst="rect">
            <a:avLst/>
          </a:prstGeom>
          <a:solidFill>
            <a:srgbClr val="E25A1C">
              <a:alpha val="25000"/>
            </a:srgbClr>
          </a:solidFill>
          <a:ln w="12700">
            <a:solidFill>
              <a:srgbClr val="E25A1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8" name="Text 56"/>
          <p:cNvSpPr/>
          <p:nvPr/>
        </p:nvSpPr>
        <p:spPr>
          <a:xfrm>
            <a:off x="5074920" y="37490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309360" y="3749040"/>
            <a:ext cx="1143000" cy="201168"/>
          </a:xfrm>
          <a:prstGeom prst="rect">
            <a:avLst/>
          </a:prstGeom>
          <a:solidFill>
            <a:srgbClr val="E25A1C">
              <a:alpha val="25000"/>
            </a:srgbClr>
          </a:solidFill>
          <a:ln w="12700">
            <a:solidFill>
              <a:srgbClr val="E25A1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0" name="Text 58"/>
          <p:cNvSpPr/>
          <p:nvPr/>
        </p:nvSpPr>
        <p:spPr>
          <a:xfrm>
            <a:off x="6309360" y="37490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GraphX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543800" y="3749040"/>
            <a:ext cx="1143000" cy="201168"/>
          </a:xfrm>
          <a:prstGeom prst="rect">
            <a:avLst/>
          </a:prstGeom>
          <a:solidFill>
            <a:srgbClr val="E25A1C">
              <a:alpha val="25000"/>
            </a:srgbClr>
          </a:solidFill>
          <a:ln w="12700">
            <a:solidFill>
              <a:srgbClr val="E25A1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2" name="Text 60"/>
          <p:cNvSpPr/>
          <p:nvPr/>
        </p:nvSpPr>
        <p:spPr>
          <a:xfrm>
            <a:off x="7543800" y="37490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API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74320" y="4069080"/>
            <a:ext cx="8595360" cy="594360"/>
          </a:xfrm>
          <a:prstGeom prst="rect">
            <a:avLst/>
          </a:prstGeom>
          <a:solidFill>
            <a:srgbClr val="1E2A3A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4" name="Text 62"/>
          <p:cNvSpPr/>
          <p:nvPr/>
        </p:nvSpPr>
        <p:spPr>
          <a:xfrm>
            <a:off x="457200" y="4069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MANAGER: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103120" y="4160520"/>
            <a:ext cx="1234440" cy="411480"/>
          </a:xfrm>
          <a:prstGeom prst="rect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6" name="Text 64"/>
          <p:cNvSpPr/>
          <p:nvPr/>
        </p:nvSpPr>
        <p:spPr>
          <a:xfrm>
            <a:off x="2103120" y="4160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Clusters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456432" y="4160520"/>
            <a:ext cx="1234440" cy="411480"/>
          </a:xfrm>
          <a:prstGeom prst="rect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8" name="Text 66"/>
          <p:cNvSpPr/>
          <p:nvPr/>
        </p:nvSpPr>
        <p:spPr>
          <a:xfrm>
            <a:off x="3456432" y="4160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 Engine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809744" y="4160520"/>
            <a:ext cx="1234440" cy="411480"/>
          </a:xfrm>
          <a:prstGeom prst="rect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0" name="Text 68"/>
          <p:cNvSpPr/>
          <p:nvPr/>
        </p:nvSpPr>
        <p:spPr>
          <a:xfrm>
            <a:off x="4809744" y="4160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163056" y="4160520"/>
            <a:ext cx="1234440" cy="411480"/>
          </a:xfrm>
          <a:prstGeom prst="rect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2" name="Text 70"/>
          <p:cNvSpPr/>
          <p:nvPr/>
        </p:nvSpPr>
        <p:spPr>
          <a:xfrm>
            <a:off x="6163056" y="4160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Instances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516368" y="4160520"/>
            <a:ext cx="1234440" cy="411480"/>
          </a:xfrm>
          <a:prstGeom prst="rect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4" name="Text 72"/>
          <p:cNvSpPr/>
          <p:nvPr/>
        </p:nvSpPr>
        <p:spPr>
          <a:xfrm>
            <a:off x="7516368" y="4160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Clusters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FORMATS IN DATABRICKS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283464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00AD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2834640" cy="438912"/>
          </a:xfrm>
          <a:prstGeom prst="rect">
            <a:avLst/>
          </a:prstGeom>
          <a:solidFill>
            <a:srgbClr val="00ADD4">
              <a:alpha val="75000"/>
            </a:srgbClr>
          </a:solidFill>
          <a:ln w="12700">
            <a:solidFill>
              <a:srgbClr val="00ADD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91640" y="768096"/>
            <a:ext cx="1234440" cy="256032"/>
          </a:xfrm>
          <a:prstGeom prst="rect">
            <a:avLst/>
          </a:prstGeom>
          <a:solidFill>
            <a:srgbClr val="00ADD4">
              <a:alpha val="40000"/>
            </a:srgbClr>
          </a:solidFill>
          <a:ln w="12700">
            <a:solidFill>
              <a:srgbClr val="00AD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8" name="Text 6"/>
          <p:cNvSpPr/>
          <p:nvPr/>
        </p:nvSpPr>
        <p:spPr>
          <a:xfrm>
            <a:off x="1691640" y="7680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Columnar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197864"/>
            <a:ext cx="91440" cy="91440"/>
          </a:xfrm>
          <a:prstGeom prst="ellipse">
            <a:avLst/>
          </a:prstGeom>
          <a:solidFill>
            <a:srgbClr val="00ADD4"/>
          </a:solidFill>
          <a:ln w="12700">
            <a:solidFill>
              <a:srgbClr val="00ADD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" name="Text 8"/>
          <p:cNvSpPr/>
          <p:nvPr/>
        </p:nvSpPr>
        <p:spPr>
          <a:xfrm>
            <a:off x="438912" y="11612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storage format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463040"/>
            <a:ext cx="91440" cy="91440"/>
          </a:xfrm>
          <a:prstGeom prst="ellipse">
            <a:avLst/>
          </a:prstGeom>
          <a:solidFill>
            <a:srgbClr val="00ADD4"/>
          </a:solidFill>
          <a:ln w="12700">
            <a:solidFill>
              <a:srgbClr val="00ADD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2" name="Text 10"/>
          <p:cNvSpPr/>
          <p:nvPr/>
        </p:nvSpPr>
        <p:spPr>
          <a:xfrm>
            <a:off x="438912" y="14264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compression (Snappy, GZIP, ZSTD)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728216"/>
            <a:ext cx="91440" cy="91440"/>
          </a:xfrm>
          <a:prstGeom prst="ellipse">
            <a:avLst/>
          </a:prstGeom>
          <a:solidFill>
            <a:srgbClr val="00ADD4"/>
          </a:solidFill>
          <a:ln w="12700">
            <a:solidFill>
              <a:srgbClr val="00ADD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4" name="Text 12"/>
          <p:cNvSpPr/>
          <p:nvPr/>
        </p:nvSpPr>
        <p:spPr>
          <a:xfrm>
            <a:off x="438912" y="16916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pushdown support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993392"/>
            <a:ext cx="91440" cy="91440"/>
          </a:xfrm>
          <a:prstGeom prst="ellipse">
            <a:avLst/>
          </a:prstGeom>
          <a:solidFill>
            <a:srgbClr val="00ADD4"/>
          </a:solidFill>
          <a:ln w="12700">
            <a:solidFill>
              <a:srgbClr val="00ADD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6" name="Text 14"/>
          <p:cNvSpPr/>
          <p:nvPr/>
        </p:nvSpPr>
        <p:spPr>
          <a:xfrm>
            <a:off x="438912" y="19568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embedded in file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258568"/>
            <a:ext cx="91440" cy="91440"/>
          </a:xfrm>
          <a:prstGeom prst="ellipse">
            <a:avLst/>
          </a:prstGeom>
          <a:solidFill>
            <a:srgbClr val="00ADD4"/>
          </a:solidFill>
          <a:ln w="12700">
            <a:solidFill>
              <a:srgbClr val="00ADD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8" name="Text 16"/>
          <p:cNvSpPr/>
          <p:nvPr/>
        </p:nvSpPr>
        <p:spPr>
          <a:xfrm>
            <a:off x="438912" y="22219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Splittable for parallel reads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395728"/>
            <a:ext cx="2651760" cy="274320"/>
          </a:xfrm>
          <a:prstGeom prst="rect">
            <a:avLst/>
          </a:prstGeom>
          <a:solidFill>
            <a:srgbClr val="00ADD4">
              <a:alpha val="15000"/>
            </a:srgbClr>
          </a:solidFill>
          <a:ln w="12700">
            <a:solidFill>
              <a:srgbClr val="00AD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0" name="Text 18"/>
          <p:cNvSpPr/>
          <p:nvPr/>
        </p:nvSpPr>
        <p:spPr>
          <a:xfrm>
            <a:off x="274320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Default for Delta Lake tables, analytics queries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54680" y="685800"/>
            <a:ext cx="283464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FF362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2" name="Shape 20"/>
          <p:cNvSpPr/>
          <p:nvPr/>
        </p:nvSpPr>
        <p:spPr>
          <a:xfrm>
            <a:off x="3154680" y="685800"/>
            <a:ext cx="2834640" cy="438912"/>
          </a:xfrm>
          <a:prstGeom prst="rect">
            <a:avLst/>
          </a:prstGeom>
          <a:solidFill>
            <a:srgbClr val="FF3621">
              <a:alpha val="7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3" name="Text 21"/>
          <p:cNvSpPr/>
          <p:nvPr/>
        </p:nvSpPr>
        <p:spPr>
          <a:xfrm>
            <a:off x="3246120" y="6858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768096"/>
            <a:ext cx="1234440" cy="256032"/>
          </a:xfrm>
          <a:prstGeom prst="rect">
            <a:avLst/>
          </a:prstGeom>
          <a:solidFill>
            <a:srgbClr val="FF3621">
              <a:alpha val="40000"/>
            </a:srgbClr>
          </a:solidFill>
          <a:ln w="12700">
            <a:solidFill>
              <a:srgbClr val="FF362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5" name="Text 23"/>
          <p:cNvSpPr/>
          <p:nvPr/>
        </p:nvSpPr>
        <p:spPr>
          <a:xfrm>
            <a:off x="4663440" y="7680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Parquet · ACID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46120" y="1197864"/>
            <a:ext cx="91440" cy="91440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7" name="Text 25"/>
          <p:cNvSpPr/>
          <p:nvPr/>
        </p:nvSpPr>
        <p:spPr>
          <a:xfrm>
            <a:off x="3410712" y="11612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+ transaction log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46120" y="1463040"/>
            <a:ext cx="91440" cy="91440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9" name="Text 27"/>
          <p:cNvSpPr/>
          <p:nvPr/>
        </p:nvSpPr>
        <p:spPr>
          <a:xfrm>
            <a:off x="3410712" y="14264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46120" y="1728216"/>
            <a:ext cx="91440" cy="91440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1" name="Text 29"/>
          <p:cNvSpPr/>
          <p:nvPr/>
        </p:nvSpPr>
        <p:spPr>
          <a:xfrm>
            <a:off x="3410712" y="16916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travel &amp; versioning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46120" y="1993392"/>
            <a:ext cx="91440" cy="91440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3" name="Text 31"/>
          <p:cNvSpPr/>
          <p:nvPr/>
        </p:nvSpPr>
        <p:spPr>
          <a:xfrm>
            <a:off x="3410712" y="19568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enforcement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46120" y="2258568"/>
            <a:ext cx="91440" cy="91440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5" name="Text 33"/>
          <p:cNvSpPr/>
          <p:nvPr/>
        </p:nvSpPr>
        <p:spPr>
          <a:xfrm>
            <a:off x="3410712" y="22219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support (MERGE, UPDATE)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46120" y="2395728"/>
            <a:ext cx="2651760" cy="274320"/>
          </a:xfrm>
          <a:prstGeom prst="rect">
            <a:avLst/>
          </a:prstGeom>
          <a:solidFill>
            <a:srgbClr val="FF3621">
              <a:alpha val="15000"/>
            </a:srgbClr>
          </a:solidFill>
          <a:ln w="12700">
            <a:solidFill>
              <a:srgbClr val="FF362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7" name="Text 35"/>
          <p:cNvSpPr/>
          <p:nvPr/>
        </p:nvSpPr>
        <p:spPr>
          <a:xfrm>
            <a:off x="3246120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Production data pipelines, upserts, regulatory compliance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126480" y="685800"/>
            <a:ext cx="283464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9" name="Shape 37"/>
          <p:cNvSpPr/>
          <p:nvPr/>
        </p:nvSpPr>
        <p:spPr>
          <a:xfrm>
            <a:off x="6126480" y="685800"/>
            <a:ext cx="2834640" cy="438912"/>
          </a:xfrm>
          <a:prstGeom prst="rect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0" name="Text 38"/>
          <p:cNvSpPr/>
          <p:nvPr/>
        </p:nvSpPr>
        <p:spPr>
          <a:xfrm>
            <a:off x="6217920" y="6858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635240" y="768096"/>
            <a:ext cx="1234440" cy="256032"/>
          </a:xfrm>
          <a:prstGeom prst="rect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2" name="Text 40"/>
          <p:cNvSpPr/>
          <p:nvPr/>
        </p:nvSpPr>
        <p:spPr>
          <a:xfrm>
            <a:off x="7635240" y="7680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· Hive-native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217920" y="1197864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4" name="Text 42"/>
          <p:cNvSpPr/>
          <p:nvPr/>
        </p:nvSpPr>
        <p:spPr>
          <a:xfrm>
            <a:off x="6382512" y="11612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Row Columnar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17920" y="146304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6" name="Text 44"/>
          <p:cNvSpPr/>
          <p:nvPr/>
        </p:nvSpPr>
        <p:spPr>
          <a:xfrm>
            <a:off x="6382512" y="14264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Hive workloads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17920" y="1728216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8" name="Text 46"/>
          <p:cNvSpPr/>
          <p:nvPr/>
        </p:nvSpPr>
        <p:spPr>
          <a:xfrm>
            <a:off x="6382512" y="16916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filters for fast lookup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17920" y="1993392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0" name="Text 48"/>
          <p:cNvSpPr/>
          <p:nvPr/>
        </p:nvSpPr>
        <p:spPr>
          <a:xfrm>
            <a:off x="6382512" y="19568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indexes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17920" y="2258568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2" name="Text 50"/>
          <p:cNvSpPr/>
          <p:nvPr/>
        </p:nvSpPr>
        <p:spPr>
          <a:xfrm>
            <a:off x="6382512" y="22219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support in Hive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17920" y="2395728"/>
            <a:ext cx="2651760" cy="274320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4" name="Text 52"/>
          <p:cNvSpPr/>
          <p:nvPr/>
        </p:nvSpPr>
        <p:spPr>
          <a:xfrm>
            <a:off x="6217920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Legacy Hadoop/Hive pipelines, some Spark workloads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82880" y="2880360"/>
            <a:ext cx="283464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E25A1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6" name="Shape 54"/>
          <p:cNvSpPr/>
          <p:nvPr/>
        </p:nvSpPr>
        <p:spPr>
          <a:xfrm>
            <a:off x="182880" y="2880360"/>
            <a:ext cx="2834640" cy="438912"/>
          </a:xfrm>
          <a:prstGeom prst="rect">
            <a:avLst/>
          </a:prstGeom>
          <a:solidFill>
            <a:srgbClr val="E25A1C">
              <a:alpha val="75000"/>
            </a:srgbClr>
          </a:solidFill>
          <a:ln w="12700">
            <a:solidFill>
              <a:srgbClr val="E25A1C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7" name="Text 55"/>
          <p:cNvSpPr/>
          <p:nvPr/>
        </p:nvSpPr>
        <p:spPr>
          <a:xfrm>
            <a:off x="274320" y="28803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AVRO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691640" y="2962656"/>
            <a:ext cx="1234440" cy="256032"/>
          </a:xfrm>
          <a:prstGeom prst="rect">
            <a:avLst/>
          </a:prstGeom>
          <a:solidFill>
            <a:srgbClr val="E25A1C">
              <a:alpha val="40000"/>
            </a:srgbClr>
          </a:solidFill>
          <a:ln w="12700">
            <a:solidFill>
              <a:srgbClr val="E25A1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9" name="Text 57"/>
          <p:cNvSpPr/>
          <p:nvPr/>
        </p:nvSpPr>
        <p:spPr>
          <a:xfrm>
            <a:off x="1691640" y="29626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Row-based · Schema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3392424"/>
            <a:ext cx="91440" cy="91440"/>
          </a:xfrm>
          <a:prstGeom prst="ellipse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1" name="Text 59"/>
          <p:cNvSpPr/>
          <p:nvPr/>
        </p:nvSpPr>
        <p:spPr>
          <a:xfrm>
            <a:off x="438912" y="3355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Row-based binary format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74320" y="3657600"/>
            <a:ext cx="91440" cy="91440"/>
          </a:xfrm>
          <a:prstGeom prst="ellipse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3" name="Text 61"/>
          <p:cNvSpPr/>
          <p:nvPr/>
        </p:nvSpPr>
        <p:spPr>
          <a:xfrm>
            <a:off x="438912" y="36210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stored in JSON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74320" y="3922776"/>
            <a:ext cx="91440" cy="91440"/>
          </a:xfrm>
          <a:prstGeom prst="ellipse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5" name="Text 63"/>
          <p:cNvSpPr/>
          <p:nvPr/>
        </p:nvSpPr>
        <p:spPr>
          <a:xfrm>
            <a:off x="438912" y="38862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 support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74320" y="4187952"/>
            <a:ext cx="91440" cy="91440"/>
          </a:xfrm>
          <a:prstGeom prst="ellipse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7" name="Text 65"/>
          <p:cNvSpPr/>
          <p:nvPr/>
        </p:nvSpPr>
        <p:spPr>
          <a:xfrm>
            <a:off x="438912" y="41513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Kafka/Streaming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74320" y="4453128"/>
            <a:ext cx="91440" cy="91440"/>
          </a:xfrm>
          <a:prstGeom prst="ellipse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9" name="Text 67"/>
          <p:cNvSpPr/>
          <p:nvPr/>
        </p:nvSpPr>
        <p:spPr>
          <a:xfrm>
            <a:off x="438912" y="44165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Language-agnostic serialization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590288"/>
            <a:ext cx="2651760" cy="274320"/>
          </a:xfrm>
          <a:prstGeom prst="rect">
            <a:avLst/>
          </a:prstGeom>
          <a:solidFill>
            <a:srgbClr val="E25A1C">
              <a:alpha val="15000"/>
            </a:srgbClr>
          </a:solidFill>
          <a:ln w="12700">
            <a:solidFill>
              <a:srgbClr val="E25A1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1" name="Text 69"/>
          <p:cNvSpPr/>
          <p:nvPr/>
        </p:nvSpPr>
        <p:spPr>
          <a:xfrm>
            <a:off x="274320" y="4590288"/>
            <a:ext cx="2651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Event streaming, Kafka integration, schema evolution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154680" y="2880360"/>
            <a:ext cx="283464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3" name="Shape 71"/>
          <p:cNvSpPr/>
          <p:nvPr/>
        </p:nvSpPr>
        <p:spPr>
          <a:xfrm>
            <a:off x="3154680" y="2880360"/>
            <a:ext cx="2834640" cy="438912"/>
          </a:xfrm>
          <a:prstGeom prst="rect">
            <a:avLst/>
          </a:prstGeom>
          <a:solidFill>
            <a:srgbClr val="0EA5E9">
              <a:alpha val="7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4" name="Text 72"/>
          <p:cNvSpPr/>
          <p:nvPr/>
        </p:nvSpPr>
        <p:spPr>
          <a:xfrm>
            <a:off x="3246120" y="28803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4663440" y="2962656"/>
            <a:ext cx="1234440" cy="256032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6" name="Text 74"/>
          <p:cNvSpPr/>
          <p:nvPr/>
        </p:nvSpPr>
        <p:spPr>
          <a:xfrm>
            <a:off x="4663440" y="29626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Semi-structured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3246120" y="3392424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8" name="Text 76"/>
          <p:cNvSpPr/>
          <p:nvPr/>
        </p:nvSpPr>
        <p:spPr>
          <a:xfrm>
            <a:off x="3410712" y="3355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readable text format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246120" y="3657600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80" name="Text 78"/>
          <p:cNvSpPr/>
          <p:nvPr/>
        </p:nvSpPr>
        <p:spPr>
          <a:xfrm>
            <a:off x="3410712" y="36210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Nested/hierarchical data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246120" y="3922776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82" name="Text 80"/>
          <p:cNvSpPr/>
          <p:nvPr/>
        </p:nvSpPr>
        <p:spPr>
          <a:xfrm>
            <a:off x="3410712" y="38862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 enforcement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246120" y="4187952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84" name="Text 82"/>
          <p:cNvSpPr/>
          <p:nvPr/>
        </p:nvSpPr>
        <p:spPr>
          <a:xfrm>
            <a:off x="3410712" y="41513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file sizes (verbose)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246120" y="4453128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86" name="Text 84"/>
          <p:cNvSpPr/>
          <p:nvPr/>
        </p:nvSpPr>
        <p:spPr>
          <a:xfrm>
            <a:off x="3410712" y="44165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data support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246120" y="4590288"/>
            <a:ext cx="2651760" cy="274320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88" name="Text 86"/>
          <p:cNvSpPr/>
          <p:nvPr/>
        </p:nvSpPr>
        <p:spPr>
          <a:xfrm>
            <a:off x="3246120" y="4590288"/>
            <a:ext cx="2651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API responses, raw ingestion, config files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126480" y="2880360"/>
            <a:ext cx="283464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0" name="Shape 88"/>
          <p:cNvSpPr/>
          <p:nvPr/>
        </p:nvSpPr>
        <p:spPr>
          <a:xfrm>
            <a:off x="6126480" y="2880360"/>
            <a:ext cx="2834640" cy="438912"/>
          </a:xfrm>
          <a:prstGeom prst="rect">
            <a:avLst/>
          </a:prstGeom>
          <a:solidFill>
            <a:srgbClr val="94A3B8">
              <a:alpha val="75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1" name="Text 89"/>
          <p:cNvSpPr/>
          <p:nvPr/>
        </p:nvSpPr>
        <p:spPr>
          <a:xfrm>
            <a:off x="6217920" y="28803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7635240" y="2962656"/>
            <a:ext cx="1234440" cy="256032"/>
          </a:xfrm>
          <a:prstGeom prst="rect">
            <a:avLst/>
          </a:prstGeom>
          <a:solidFill>
            <a:srgbClr val="94A3B8">
              <a:alpha val="4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3" name="Text 91"/>
          <p:cNvSpPr/>
          <p:nvPr/>
        </p:nvSpPr>
        <p:spPr>
          <a:xfrm>
            <a:off x="7635240" y="29626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Tabular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6217920" y="3392424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5" name="Text 93"/>
          <p:cNvSpPr/>
          <p:nvPr/>
        </p:nvSpPr>
        <p:spPr>
          <a:xfrm>
            <a:off x="6382512" y="3355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text, comma delimited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6217920" y="365760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7" name="Text 95"/>
          <p:cNvSpPr/>
          <p:nvPr/>
        </p:nvSpPr>
        <p:spPr>
          <a:xfrm>
            <a:off x="6382512" y="36210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compatibility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217920" y="3922776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9" name="Text 97"/>
          <p:cNvSpPr/>
          <p:nvPr/>
        </p:nvSpPr>
        <p:spPr>
          <a:xfrm>
            <a:off x="6382512" y="38862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 information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217920" y="418795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1" name="Text 99"/>
          <p:cNvSpPr/>
          <p:nvPr/>
        </p:nvSpPr>
        <p:spPr>
          <a:xfrm>
            <a:off x="6382512" y="41513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compression by default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217920" y="4453128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3" name="Text 101"/>
          <p:cNvSpPr/>
          <p:nvPr/>
        </p:nvSpPr>
        <p:spPr>
          <a:xfrm>
            <a:off x="6382512" y="44165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splittable efficiently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6217920" y="4590288"/>
            <a:ext cx="2651760" cy="274320"/>
          </a:xfrm>
          <a:prstGeom prst="rect">
            <a:avLst/>
          </a:prstGeom>
          <a:solidFill>
            <a:srgbClr val="94A3B8">
              <a:alpha val="15000"/>
            </a:srgbClr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5" name="Text 103"/>
          <p:cNvSpPr/>
          <p:nvPr/>
        </p:nvSpPr>
        <p:spPr>
          <a:xfrm>
            <a:off x="6217920" y="4590288"/>
            <a:ext cx="2651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Initial data ingestion, external data exchange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STORAGE ARCHITECTURE (Bronze → Silver → Gold)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2880360" cy="4206240"/>
          </a:xfrm>
          <a:prstGeom prst="rect">
            <a:avLst/>
          </a:prstGeom>
          <a:solidFill>
            <a:srgbClr val="1E2A3A"/>
          </a:solidFill>
          <a:ln w="12700">
            <a:solidFill>
              <a:srgbClr val="CD7F3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2880360" cy="548640"/>
          </a:xfrm>
          <a:prstGeom prst="rect">
            <a:avLst/>
          </a:prstGeom>
          <a:solidFill>
            <a:srgbClr val="CD7F32">
              <a:alpha val="80000"/>
            </a:srgbClr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685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unprocessed data as-is from sources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2697480" cy="30175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" name="Text 8"/>
          <p:cNvSpPr/>
          <p:nvPr/>
        </p:nvSpPr>
        <p:spPr>
          <a:xfrm>
            <a:off x="320040" y="164592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Exact copy of source data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93392"/>
            <a:ext cx="2697480" cy="301752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2" name="Text 10"/>
          <p:cNvSpPr/>
          <p:nvPr/>
        </p:nvSpPr>
        <p:spPr>
          <a:xfrm>
            <a:off x="320040" y="1993392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transformations applied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340864"/>
            <a:ext cx="2697480" cy="30175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4" name="Text 12"/>
          <p:cNvSpPr/>
          <p:nvPr/>
        </p:nvSpPr>
        <p:spPr>
          <a:xfrm>
            <a:off x="320040" y="234086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Append-only pattern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688336"/>
            <a:ext cx="2697480" cy="301752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6" name="Text 14"/>
          <p:cNvSpPr/>
          <p:nvPr/>
        </p:nvSpPr>
        <p:spPr>
          <a:xfrm>
            <a:off x="320040" y="2688336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file formats supported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035808"/>
            <a:ext cx="2697480" cy="30175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8" name="Text 16"/>
          <p:cNvSpPr/>
          <p:nvPr/>
        </p:nvSpPr>
        <p:spPr>
          <a:xfrm>
            <a:off x="320040" y="3035808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Long-term retention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2697480" cy="301752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0" name="Text 18"/>
          <p:cNvSpPr/>
          <p:nvPr/>
        </p:nvSpPr>
        <p:spPr>
          <a:xfrm>
            <a:off x="320040" y="338328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Schema-on-read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2697480" cy="228600"/>
          </a:xfrm>
          <a:prstGeom prst="rect">
            <a:avLst/>
          </a:prstGeom>
          <a:solidFill>
            <a:srgbClr val="CD7F32">
              <a:alpha val="25000"/>
            </a:srgbClr>
          </a:solidFill>
          <a:ln w="12700">
            <a:solidFill>
              <a:srgbClr val="CD7F3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2" name="Text 20"/>
          <p:cNvSpPr/>
          <p:nvPr/>
        </p:nvSpPr>
        <p:spPr>
          <a:xfrm>
            <a:off x="274320" y="46177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 ·  JDBC  ·  Files  ·  APIs  ·  CDC  ·  Logs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154680" y="685800"/>
            <a:ext cx="2880360" cy="4206240"/>
          </a:xfrm>
          <a:prstGeom prst="rect">
            <a:avLst/>
          </a:prstGeom>
          <a:solidFill>
            <a:srgbClr val="1E2A3A"/>
          </a:solidFill>
          <a:ln w="12700">
            <a:solidFill>
              <a:srgbClr val="C0C0C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4" name="Shape 22"/>
          <p:cNvSpPr/>
          <p:nvPr/>
        </p:nvSpPr>
        <p:spPr>
          <a:xfrm>
            <a:off x="3154680" y="685800"/>
            <a:ext cx="2880360" cy="548640"/>
          </a:xfrm>
          <a:prstGeom prst="rect">
            <a:avLst/>
          </a:prstGeom>
          <a:solidFill>
            <a:srgbClr val="C0C0C0">
              <a:alpha val="80000"/>
            </a:srgbClr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5" name="Text 23"/>
          <p:cNvSpPr/>
          <p:nvPr/>
        </p:nvSpPr>
        <p:spPr>
          <a:xfrm>
            <a:off x="3246120" y="685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09160" y="685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 Layer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46120" y="1280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cleansed and enriched data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46120" y="1645920"/>
            <a:ext cx="2697480" cy="30175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9" name="Text 27"/>
          <p:cNvSpPr/>
          <p:nvPr/>
        </p:nvSpPr>
        <p:spPr>
          <a:xfrm>
            <a:off x="3291840" y="164592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quality enforcement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46120" y="1993392"/>
            <a:ext cx="2697480" cy="301752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1" name="Text 29"/>
          <p:cNvSpPr/>
          <p:nvPr/>
        </p:nvSpPr>
        <p:spPr>
          <a:xfrm>
            <a:off x="3291840" y="1993392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Deduplication applied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2340864"/>
            <a:ext cx="2697480" cy="30175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3" name="Text 31"/>
          <p:cNvSpPr/>
          <p:nvPr/>
        </p:nvSpPr>
        <p:spPr>
          <a:xfrm>
            <a:off x="3291840" y="234086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Schema normalization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46120" y="2688336"/>
            <a:ext cx="2697480" cy="301752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5" name="Text 33"/>
          <p:cNvSpPr/>
          <p:nvPr/>
        </p:nvSpPr>
        <p:spPr>
          <a:xfrm>
            <a:off x="3291840" y="2688336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Joined &amp; enriched tables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46120" y="3035808"/>
            <a:ext cx="2697480" cy="30175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7" name="Text 35"/>
          <p:cNvSpPr/>
          <p:nvPr/>
        </p:nvSpPr>
        <p:spPr>
          <a:xfrm>
            <a:off x="3291840" y="3035808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Stored as Delta format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3383280"/>
            <a:ext cx="2697480" cy="301752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9" name="Text 37"/>
          <p:cNvSpPr/>
          <p:nvPr/>
        </p:nvSpPr>
        <p:spPr>
          <a:xfrm>
            <a:off x="3291840" y="338328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Conformed dimensions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46120" y="4617720"/>
            <a:ext cx="2697480" cy="228600"/>
          </a:xfrm>
          <a:prstGeom prst="rect">
            <a:avLst/>
          </a:prstGeom>
          <a:solidFill>
            <a:srgbClr val="C0C0C0">
              <a:alpha val="25000"/>
            </a:srgbClr>
          </a:solidFill>
          <a:ln w="12700">
            <a:solidFill>
              <a:srgbClr val="C0C0C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1" name="Text 39"/>
          <p:cNvSpPr/>
          <p:nvPr/>
        </p:nvSpPr>
        <p:spPr>
          <a:xfrm>
            <a:off x="3246120" y="46177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 ·  Validate  ·  Join  ·  Filter  ·  Cast  ·  Enrich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26480" y="685800"/>
            <a:ext cx="2880360" cy="4206240"/>
          </a:xfrm>
          <a:prstGeom prst="rect">
            <a:avLst/>
          </a:prstGeom>
          <a:solidFill>
            <a:srgbClr val="1E2A3A"/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3" name="Shape 41"/>
          <p:cNvSpPr/>
          <p:nvPr/>
        </p:nvSpPr>
        <p:spPr>
          <a:xfrm>
            <a:off x="6126480" y="685800"/>
            <a:ext cx="2880360" cy="548640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4" name="Text 42"/>
          <p:cNvSpPr/>
          <p:nvPr/>
        </p:nvSpPr>
        <p:spPr>
          <a:xfrm>
            <a:off x="6217920" y="685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680960" y="685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Layer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17920" y="1280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 aggregated datasets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1645920"/>
            <a:ext cx="2697480" cy="30175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8" name="Text 46"/>
          <p:cNvSpPr/>
          <p:nvPr/>
        </p:nvSpPr>
        <p:spPr>
          <a:xfrm>
            <a:off x="6263640" y="164592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Aggregated / summarized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17920" y="1993392"/>
            <a:ext cx="2697480" cy="301752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0" name="Text 48"/>
          <p:cNvSpPr/>
          <p:nvPr/>
        </p:nvSpPr>
        <p:spPr>
          <a:xfrm>
            <a:off x="6263640" y="1993392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Domain-specific marts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17920" y="2340864"/>
            <a:ext cx="2697480" cy="30175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2" name="Text 50"/>
          <p:cNvSpPr/>
          <p:nvPr/>
        </p:nvSpPr>
        <p:spPr>
          <a:xfrm>
            <a:off x="6263640" y="234086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Optimized for BI tools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17920" y="2688336"/>
            <a:ext cx="2697480" cy="301752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4" name="Text 52"/>
          <p:cNvSpPr/>
          <p:nvPr/>
        </p:nvSpPr>
        <p:spPr>
          <a:xfrm>
            <a:off x="6263640" y="2688336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Served via SQL Warehouse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17920" y="3035808"/>
            <a:ext cx="2697480" cy="30175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6" name="Text 54"/>
          <p:cNvSpPr/>
          <p:nvPr/>
        </p:nvSpPr>
        <p:spPr>
          <a:xfrm>
            <a:off x="6263640" y="3035808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 store for ML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17920" y="3383280"/>
            <a:ext cx="2697480" cy="301752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8" name="Text 56"/>
          <p:cNvSpPr/>
          <p:nvPr/>
        </p:nvSpPr>
        <p:spPr>
          <a:xfrm>
            <a:off x="6263640" y="338328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Low latency queries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17920" y="4617720"/>
            <a:ext cx="2697480" cy="228600"/>
          </a:xfrm>
          <a:prstGeom prst="rect">
            <a:avLst/>
          </a:prstGeom>
          <a:solidFill>
            <a:srgbClr val="FFD700">
              <a:alpha val="25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0" name="Text 58"/>
          <p:cNvSpPr/>
          <p:nvPr/>
        </p:nvSpPr>
        <p:spPr>
          <a:xfrm>
            <a:off x="6217920" y="46177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Tools  ·  ML Models  ·  APIs  ·  Dashboards  ·  Reports  ·  Apps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63240" y="2560320"/>
            <a:ext cx="91440" cy="320040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2" name="Text 60"/>
          <p:cNvSpPr/>
          <p:nvPr/>
        </p:nvSpPr>
        <p:spPr>
          <a:xfrm>
            <a:off x="301752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035040" y="2560320"/>
            <a:ext cx="91440" cy="320040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4" name="Text 62"/>
          <p:cNvSpPr/>
          <p:nvPr/>
        </p:nvSpPr>
        <p:spPr>
          <a:xfrm>
            <a:off x="598932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MANAGEMENT &amp; COMPUTE TYPES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425196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FF362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4251960" cy="457200"/>
          </a:xfrm>
          <a:prstGeom prst="rect">
            <a:avLst/>
          </a:prstGeom>
          <a:solidFill>
            <a:srgbClr val="FF3621">
              <a:alpha val="7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329184" cy="329184"/>
          </a:xfrm>
          <a:prstGeom prst="ellipse">
            <a:avLst/>
          </a:prstGeom>
          <a:solidFill>
            <a:srgbClr val="FF3621">
              <a:alpha val="70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685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All-Purpose Cluster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768096"/>
            <a:ext cx="1325880" cy="274320"/>
          </a:xfrm>
          <a:prstGeom prst="rect">
            <a:avLst/>
          </a:prstGeom>
          <a:solidFill>
            <a:srgbClr val="FF3621">
              <a:alpha val="35000"/>
            </a:srgbClr>
          </a:solidFill>
          <a:ln w="12700">
            <a:solidFill>
              <a:srgbClr val="FF362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" name="Text 8"/>
          <p:cNvSpPr/>
          <p:nvPr/>
        </p:nvSpPr>
        <p:spPr>
          <a:xfrm>
            <a:off x="3017520" y="7680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Development, exploration, debugging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0040" y="11887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development &amp; collaboration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463040"/>
            <a:ext cx="3977640" cy="2194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3" name="Text 11"/>
          <p:cNvSpPr/>
          <p:nvPr/>
        </p:nvSpPr>
        <p:spPr>
          <a:xfrm>
            <a:off x="365760" y="146304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Multi-user notebooks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709928"/>
            <a:ext cx="3977640" cy="219456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5" name="Text 13"/>
          <p:cNvSpPr/>
          <p:nvPr/>
        </p:nvSpPr>
        <p:spPr>
          <a:xfrm>
            <a:off x="365760" y="170992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Long-running sessions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956816"/>
            <a:ext cx="3977640" cy="2194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7" name="Text 15"/>
          <p:cNvSpPr/>
          <p:nvPr/>
        </p:nvSpPr>
        <p:spPr>
          <a:xfrm>
            <a:off x="365760" y="195681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Manual start/stop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203704"/>
            <a:ext cx="3977640" cy="219456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9" name="Text 17"/>
          <p:cNvSpPr/>
          <p:nvPr/>
        </p:nvSpPr>
        <p:spPr>
          <a:xfrm>
            <a:off x="365760" y="22037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Shared across teams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450592"/>
            <a:ext cx="3977640" cy="2194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1" name="Text 19"/>
          <p:cNvSpPr/>
          <p:nvPr/>
        </p:nvSpPr>
        <p:spPr>
          <a:xfrm>
            <a:off x="365760" y="24505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Higher cost model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685800"/>
            <a:ext cx="425196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3" name="Shape 21"/>
          <p:cNvSpPr/>
          <p:nvPr/>
        </p:nvSpPr>
        <p:spPr>
          <a:xfrm>
            <a:off x="4663440" y="685800"/>
            <a:ext cx="4251960" cy="457200"/>
          </a:xfrm>
          <a:prstGeom prst="rect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4" name="Shape 22"/>
          <p:cNvSpPr/>
          <p:nvPr/>
        </p:nvSpPr>
        <p:spPr>
          <a:xfrm>
            <a:off x="4754880" y="749808"/>
            <a:ext cx="329184" cy="329184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5" name="Text 23"/>
          <p:cNvSpPr/>
          <p:nvPr/>
        </p:nvSpPr>
        <p:spPr>
          <a:xfrm>
            <a:off x="4754880" y="749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66360" y="685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Cluster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0" y="768096"/>
            <a:ext cx="1325880" cy="274320"/>
          </a:xfrm>
          <a:prstGeom prst="rect">
            <a:avLst/>
          </a:prstGeom>
          <a:solidFill>
            <a:srgbClr val="22C55E">
              <a:alpha val="3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8" name="Text 26"/>
          <p:cNvSpPr/>
          <p:nvPr/>
        </p:nvSpPr>
        <p:spPr>
          <a:xfrm>
            <a:off x="7498080" y="7680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pipelines, nightly batch jobs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00600" y="11887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scheduled workloads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1463040"/>
            <a:ext cx="3977640" cy="2194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1" name="Text 29"/>
          <p:cNvSpPr/>
          <p:nvPr/>
        </p:nvSpPr>
        <p:spPr>
          <a:xfrm>
            <a:off x="4846320" y="146304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Spun up per job run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1709928"/>
            <a:ext cx="3977640" cy="219456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3" name="Text 31"/>
          <p:cNvSpPr/>
          <p:nvPr/>
        </p:nvSpPr>
        <p:spPr>
          <a:xfrm>
            <a:off x="4846320" y="170992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Auto-terminates on complete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1956816"/>
            <a:ext cx="3977640" cy="2194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5" name="Text 33"/>
          <p:cNvSpPr/>
          <p:nvPr/>
        </p:nvSpPr>
        <p:spPr>
          <a:xfrm>
            <a:off x="4846320" y="195681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Cost efficient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2203704"/>
            <a:ext cx="3977640" cy="219456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7" name="Text 35"/>
          <p:cNvSpPr/>
          <p:nvPr/>
        </p:nvSpPr>
        <p:spPr>
          <a:xfrm>
            <a:off x="4846320" y="22037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Isolated environment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2450592"/>
            <a:ext cx="3977640" cy="2194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9" name="Text 37"/>
          <p:cNvSpPr/>
          <p:nvPr/>
        </p:nvSpPr>
        <p:spPr>
          <a:xfrm>
            <a:off x="4846320" y="24505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Optimized configuration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" y="2880360"/>
            <a:ext cx="425196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1" name="Shape 39"/>
          <p:cNvSpPr/>
          <p:nvPr/>
        </p:nvSpPr>
        <p:spPr>
          <a:xfrm>
            <a:off x="182880" y="2880360"/>
            <a:ext cx="4251960" cy="457200"/>
          </a:xfrm>
          <a:prstGeom prst="rect">
            <a:avLst/>
          </a:prstGeom>
          <a:solidFill>
            <a:srgbClr val="0EA5E9">
              <a:alpha val="7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2" name="Shape 40"/>
          <p:cNvSpPr/>
          <p:nvPr/>
        </p:nvSpPr>
        <p:spPr>
          <a:xfrm>
            <a:off x="274320" y="2944368"/>
            <a:ext cx="329184" cy="329184"/>
          </a:xfrm>
          <a:prstGeom prst="ellipse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3" name="Text 41"/>
          <p:cNvSpPr/>
          <p:nvPr/>
        </p:nvSpPr>
        <p:spPr>
          <a:xfrm>
            <a:off x="274320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580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Warehouse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017520" y="2962656"/>
            <a:ext cx="1325880" cy="27432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6" name="Text 44"/>
          <p:cNvSpPr/>
          <p:nvPr/>
        </p:nvSpPr>
        <p:spPr>
          <a:xfrm>
            <a:off x="3017520" y="29626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ad-hoc SQL, BI tools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20040" y="33832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and SQL analytics endpoint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3657600"/>
            <a:ext cx="3977640" cy="2194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9" name="Text 47"/>
          <p:cNvSpPr/>
          <p:nvPr/>
        </p:nvSpPr>
        <p:spPr>
          <a:xfrm>
            <a:off x="36576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Serverless or Classic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3904488"/>
            <a:ext cx="3977640" cy="219456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1" name="Text 49"/>
          <p:cNvSpPr/>
          <p:nvPr/>
        </p:nvSpPr>
        <p:spPr>
          <a:xfrm>
            <a:off x="365760" y="390448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Auto-stop on idle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4151376"/>
            <a:ext cx="3977640" cy="2194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3" name="Text 51"/>
          <p:cNvSpPr/>
          <p:nvPr/>
        </p:nvSpPr>
        <p:spPr>
          <a:xfrm>
            <a:off x="365760" y="41513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Connection strings for BI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4398264"/>
            <a:ext cx="3977640" cy="219456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5" name="Text 53"/>
          <p:cNvSpPr/>
          <p:nvPr/>
        </p:nvSpPr>
        <p:spPr>
          <a:xfrm>
            <a:off x="365760" y="439826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Result caching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4645152"/>
            <a:ext cx="3977640" cy="2194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7" name="Text 55"/>
          <p:cNvSpPr/>
          <p:nvPr/>
        </p:nvSpPr>
        <p:spPr>
          <a:xfrm>
            <a:off x="365760" y="464515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Photon-powered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63440" y="2880360"/>
            <a:ext cx="425196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1F77B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9" name="Shape 57"/>
          <p:cNvSpPr/>
          <p:nvPr/>
        </p:nvSpPr>
        <p:spPr>
          <a:xfrm>
            <a:off x="4663440" y="2880360"/>
            <a:ext cx="4251960" cy="457200"/>
          </a:xfrm>
          <a:prstGeom prst="rect">
            <a:avLst/>
          </a:prstGeom>
          <a:solidFill>
            <a:srgbClr val="1F77B4">
              <a:alpha val="75000"/>
            </a:srgbClr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0" name="Shape 58"/>
          <p:cNvSpPr/>
          <p:nvPr/>
        </p:nvSpPr>
        <p:spPr>
          <a:xfrm>
            <a:off x="4754880" y="2944368"/>
            <a:ext cx="329184" cy="329184"/>
          </a:xfrm>
          <a:prstGeom prst="ellipse">
            <a:avLst/>
          </a:prstGeom>
          <a:solidFill>
            <a:srgbClr val="1F77B4">
              <a:alpha val="70000"/>
            </a:srgbClr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1" name="Text 59"/>
          <p:cNvSpPr/>
          <p:nvPr/>
        </p:nvSpPr>
        <p:spPr>
          <a:xfrm>
            <a:off x="4754880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16636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Pools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498080" y="2962656"/>
            <a:ext cx="1325880" cy="274320"/>
          </a:xfrm>
          <a:prstGeom prst="rect">
            <a:avLst/>
          </a:prstGeom>
          <a:solidFill>
            <a:srgbClr val="1F77B4">
              <a:alpha val="35000"/>
            </a:srgbClr>
          </a:solidFill>
          <a:ln w="12700">
            <a:solidFill>
              <a:srgbClr val="1F77B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4" name="Text 62"/>
          <p:cNvSpPr/>
          <p:nvPr/>
        </p:nvSpPr>
        <p:spPr>
          <a:xfrm>
            <a:off x="7498080" y="29626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job starts, latency-sensitive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800600" y="33832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Pre-warmed instances reduce startup time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800600" y="3657600"/>
            <a:ext cx="3977640" cy="2194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7" name="Text 65"/>
          <p:cNvSpPr/>
          <p:nvPr/>
        </p:nvSpPr>
        <p:spPr>
          <a:xfrm>
            <a:off x="484632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Idle instances ready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800600" y="3904488"/>
            <a:ext cx="3977640" cy="219456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9" name="Text 67"/>
          <p:cNvSpPr/>
          <p:nvPr/>
        </p:nvSpPr>
        <p:spPr>
          <a:xfrm>
            <a:off x="4846320" y="390448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Reduce cold start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800600" y="4151376"/>
            <a:ext cx="3977640" cy="2194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1" name="Text 69"/>
          <p:cNvSpPr/>
          <p:nvPr/>
        </p:nvSpPr>
        <p:spPr>
          <a:xfrm>
            <a:off x="4846320" y="41513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Shared across clusters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800600" y="4398264"/>
            <a:ext cx="3977640" cy="219456"/>
          </a:xfrm>
          <a:prstGeom prst="rect">
            <a:avLst/>
          </a:prstGeom>
          <a:solidFill>
            <a:srgbClr val="1E2D4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3" name="Text 71"/>
          <p:cNvSpPr/>
          <p:nvPr/>
        </p:nvSpPr>
        <p:spPr>
          <a:xfrm>
            <a:off x="4846320" y="439826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Max capacity limits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800600" y="4645152"/>
            <a:ext cx="3977640" cy="2194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5" name="Text 73"/>
          <p:cNvSpPr/>
          <p:nvPr/>
        </p:nvSpPr>
        <p:spPr>
          <a:xfrm>
            <a:off x="4846320" y="464515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Cost via idle rates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UNITY CATALOG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Object Hierarchy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502920"/>
          </a:xfrm>
          <a:prstGeom prst="rect">
            <a:avLst/>
          </a:prstGeom>
          <a:solidFill>
            <a:srgbClr val="FF3621">
              <a:alpha val="22000"/>
            </a:srgbClr>
          </a:solidFill>
          <a:ln w="12700">
            <a:solidFill>
              <a:srgbClr val="FF362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4864" cy="50292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container — one per region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3794760" cy="502920"/>
          </a:xfrm>
          <a:prstGeom prst="rect">
            <a:avLst/>
          </a:prstGeom>
          <a:solidFill>
            <a:srgbClr val="E25A1C">
              <a:alpha val="22000"/>
            </a:srgbClr>
          </a:solidFill>
          <a:ln w="12700">
            <a:solidFill>
              <a:srgbClr val="E25A1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54864" cy="50292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1" name="Text 9"/>
          <p:cNvSpPr/>
          <p:nvPr/>
        </p:nvSpPr>
        <p:spPr>
          <a:xfrm>
            <a:off x="6400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8562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grouping (prod, dev, staging)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2194560"/>
            <a:ext cx="3566160" cy="502920"/>
          </a:xfrm>
          <a:prstGeom prst="rect">
            <a:avLst/>
          </a:prstGeom>
          <a:solidFill>
            <a:srgbClr val="00ADD4">
              <a:alpha val="22000"/>
            </a:srgbClr>
          </a:solidFill>
          <a:ln w="12700">
            <a:solidFill>
              <a:srgbClr val="00AD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4" name="Shape 12"/>
          <p:cNvSpPr/>
          <p:nvPr/>
        </p:nvSpPr>
        <p:spPr>
          <a:xfrm>
            <a:off x="731520" y="2194560"/>
            <a:ext cx="54864" cy="502920"/>
          </a:xfrm>
          <a:prstGeom prst="rect">
            <a:avLst/>
          </a:prstGeom>
          <a:solidFill>
            <a:srgbClr val="00ADD4"/>
          </a:solidFill>
          <a:ln w="12700">
            <a:solidFill>
              <a:srgbClr val="00ADD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5" name="Text 13"/>
          <p:cNvSpPr/>
          <p:nvPr/>
        </p:nvSpPr>
        <p:spPr>
          <a:xfrm>
            <a:off x="86868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(DATABASE)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4505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within a catalog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60120" y="2788920"/>
            <a:ext cx="3337560" cy="502920"/>
          </a:xfrm>
          <a:prstGeom prst="rect">
            <a:avLst/>
          </a:prstGeom>
          <a:solidFill>
            <a:srgbClr val="22C55E">
              <a:alpha val="22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8" name="Shape 16"/>
          <p:cNvSpPr/>
          <p:nvPr/>
        </p:nvSpPr>
        <p:spPr>
          <a:xfrm>
            <a:off x="960120" y="2788920"/>
            <a:ext cx="54864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9" name="Text 17"/>
          <p:cNvSpPr/>
          <p:nvPr/>
        </p:nvSpPr>
        <p:spPr>
          <a:xfrm>
            <a:off x="109728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VIEW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0449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or external tables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88720" y="3383280"/>
            <a:ext cx="3108960" cy="502920"/>
          </a:xfrm>
          <a:prstGeom prst="rect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2" name="Shape 20"/>
          <p:cNvSpPr/>
          <p:nvPr/>
        </p:nvSpPr>
        <p:spPr>
          <a:xfrm>
            <a:off x="1188720" y="3383280"/>
            <a:ext cx="54864" cy="5029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3" name="Text 21"/>
          <p:cNvSpPr/>
          <p:nvPr/>
        </p:nvSpPr>
        <p:spPr>
          <a:xfrm>
            <a:off x="132588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25880" y="3639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column-level control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658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Capabilities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201168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FF362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7" name="Shape 25"/>
          <p:cNvSpPr/>
          <p:nvPr/>
        </p:nvSpPr>
        <p:spPr>
          <a:xfrm>
            <a:off x="4663440" y="1005840"/>
            <a:ext cx="2011680" cy="292608"/>
          </a:xfrm>
          <a:prstGeom prst="rect">
            <a:avLst/>
          </a:prstGeom>
          <a:solidFill>
            <a:srgbClr val="FF3621">
              <a:alpha val="70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8" name="Text 26"/>
          <p:cNvSpPr/>
          <p:nvPr/>
        </p:nvSpPr>
        <p:spPr>
          <a:xfrm>
            <a:off x="4754880" y="1005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13533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Row/column-level security, attribute-based access control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58000" y="1005840"/>
            <a:ext cx="201168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00AD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1" name="Shape 29"/>
          <p:cNvSpPr/>
          <p:nvPr/>
        </p:nvSpPr>
        <p:spPr>
          <a:xfrm>
            <a:off x="6858000" y="1005840"/>
            <a:ext cx="2011680" cy="292608"/>
          </a:xfrm>
          <a:prstGeom prst="rect">
            <a:avLst/>
          </a:prstGeom>
          <a:solidFill>
            <a:srgbClr val="00ADD4">
              <a:alpha val="70000"/>
            </a:srgbClr>
          </a:solidFill>
          <a:ln w="12700">
            <a:solidFill>
              <a:srgbClr val="00ADD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2" name="Text 30"/>
          <p:cNvSpPr/>
          <p:nvPr/>
        </p:nvSpPr>
        <p:spPr>
          <a:xfrm>
            <a:off x="6949440" y="1005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49440" y="13533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column-level lineage across notebooks, jobs, queries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2377440"/>
            <a:ext cx="201168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5" name="Shape 33"/>
          <p:cNvSpPr/>
          <p:nvPr/>
        </p:nvSpPr>
        <p:spPr>
          <a:xfrm>
            <a:off x="4663440" y="2377440"/>
            <a:ext cx="2011680" cy="292608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6" name="Text 34"/>
          <p:cNvSpPr/>
          <p:nvPr/>
        </p:nvSpPr>
        <p:spPr>
          <a:xfrm>
            <a:off x="475488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54880" y="27249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access recorded for compliance and auditing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58000" y="2377440"/>
            <a:ext cx="201168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9" name="Shape 37"/>
          <p:cNvSpPr/>
          <p:nvPr/>
        </p:nvSpPr>
        <p:spPr>
          <a:xfrm>
            <a:off x="6858000" y="2377440"/>
            <a:ext cx="2011680" cy="292608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0" name="Text 38"/>
          <p:cNvSpPr/>
          <p:nvPr/>
        </p:nvSpPr>
        <p:spPr>
          <a:xfrm>
            <a:off x="694944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49440" y="27249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browse assets across catalogs with tagging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3749040"/>
            <a:ext cx="201168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E25A1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3" name="Shape 41"/>
          <p:cNvSpPr/>
          <p:nvPr/>
        </p:nvSpPr>
        <p:spPr>
          <a:xfrm>
            <a:off x="4663440" y="3749040"/>
            <a:ext cx="2011680" cy="292608"/>
          </a:xfrm>
          <a:prstGeom prst="rect">
            <a:avLst/>
          </a:prstGeom>
          <a:solidFill>
            <a:srgbClr val="E25A1C">
              <a:alpha val="70000"/>
            </a:srgbClr>
          </a:solidFill>
          <a:ln w="12700">
            <a:solidFill>
              <a:srgbClr val="E25A1C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4" name="Text 42"/>
          <p:cNvSpPr/>
          <p:nvPr/>
        </p:nvSpPr>
        <p:spPr>
          <a:xfrm>
            <a:off x="475488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54880" y="40965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schemas for streaming and batch data ingestion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858000" y="3749040"/>
            <a:ext cx="201168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7" name="Shape 45"/>
          <p:cNvSpPr/>
          <p:nvPr/>
        </p:nvSpPr>
        <p:spPr>
          <a:xfrm>
            <a:off x="6858000" y="3749040"/>
            <a:ext cx="2011680" cy="292608"/>
          </a:xfrm>
          <a:prstGeom prst="rect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8" name="Text 46"/>
          <p:cNvSpPr/>
          <p:nvPr/>
        </p:nvSpPr>
        <p:spPr>
          <a:xfrm>
            <a:off x="694944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(Delta Share)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949440" y="40965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protocol for sharing live data across organizations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3621">
              <a:alpha val="7000"/>
            </a:srgbClr>
          </a:solidFill>
          <a:ln w="12700">
            <a:solidFill>
              <a:srgbClr val="FF362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" name="Shape 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ADD4">
              <a:alpha val="7000"/>
            </a:srgbClr>
          </a:solidFill>
          <a:ln w="12700">
            <a:solidFill>
              <a:srgbClr val="00ADD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Architecture at a Glance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743200" cy="1600200"/>
          </a:xfrm>
          <a:prstGeom prst="rect">
            <a:avLst/>
          </a:prstGeom>
          <a:solidFill>
            <a:srgbClr val="1E2A3A"/>
          </a:solidFill>
          <a:ln w="12700">
            <a:solidFill>
              <a:srgbClr val="FF362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2743200" cy="54864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" name="Text 7"/>
          <p:cNvSpPr/>
          <p:nvPr/>
        </p:nvSpPr>
        <p:spPr>
          <a:xfrm>
            <a:off x="36576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43560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Unifies Data + 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data warehouse reliability with data lake scale and flexibility on open formats.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743200" cy="1600200"/>
          </a:xfrm>
          <a:prstGeom prst="rect">
            <a:avLst/>
          </a:prstGeom>
          <a:solidFill>
            <a:srgbClr val="1E2A3A"/>
          </a:solidFill>
          <a:ln w="12700">
            <a:solidFill>
              <a:srgbClr val="00ADD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743200" cy="54864"/>
          </a:xfrm>
          <a:prstGeom prst="rect">
            <a:avLst/>
          </a:prstGeom>
          <a:solidFill>
            <a:srgbClr val="00ADD4"/>
          </a:solidFill>
          <a:ln w="12700">
            <a:solidFill>
              <a:srgbClr val="00ADD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4" name="Text 12"/>
          <p:cNvSpPr/>
          <p:nvPr/>
        </p:nvSpPr>
        <p:spPr>
          <a:xfrm>
            <a:off x="329184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94760" y="143560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= Reliability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transactions, time travel, and schema enforcement make pipelines production-grade.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2743200" cy="1600200"/>
          </a:xfrm>
          <a:prstGeom prst="rect">
            <a:avLst/>
          </a:prstGeom>
          <a:solidFill>
            <a:srgbClr val="1E2A3A"/>
          </a:solidFill>
          <a:ln w="12700">
            <a:solidFill>
              <a:srgbClr val="E25A1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2743200" cy="54864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9" name="Text 17"/>
          <p:cNvSpPr/>
          <p:nvPr/>
        </p:nvSpPr>
        <p:spPr>
          <a:xfrm>
            <a:off x="621792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143560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is the Engine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compute handles batch, streaming, ML, and SQL on the same engine with Photon acceleration.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108960"/>
            <a:ext cx="2743200" cy="1600200"/>
          </a:xfrm>
          <a:prstGeom prst="rect">
            <a:avLst/>
          </a:prstGeom>
          <a:solidFill>
            <a:srgbClr val="1E2A3A"/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4" name="Text 22"/>
          <p:cNvSpPr/>
          <p:nvPr/>
        </p:nvSpPr>
        <p:spPr>
          <a:xfrm>
            <a:off x="36576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" y="32186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for Data Quality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703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progressively cleanses and aggregates data for trusted analytics.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3108960"/>
            <a:ext cx="2743200" cy="1600200"/>
          </a:xfrm>
          <a:prstGeom prst="rect">
            <a:avLst/>
          </a:prstGeom>
          <a:solidFill>
            <a:srgbClr val="1E2A3A"/>
          </a:solidFill>
          <a:ln w="12700">
            <a:solidFill>
              <a:srgbClr val="0EA5E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8" name="Shape 26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9" name="Text 27"/>
          <p:cNvSpPr/>
          <p:nvPr/>
        </p:nvSpPr>
        <p:spPr>
          <a:xfrm>
            <a:off x="329184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94760" y="32186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is the Foundation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3703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Columnar, compressed, splittable — ideal for cloud analytics. Delta extends it with transaction support.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3108960"/>
            <a:ext cx="2743200" cy="1600200"/>
          </a:xfrm>
          <a:prstGeom prst="rect">
            <a:avLst/>
          </a:prstGeom>
          <a:solidFill>
            <a:srgbClr val="1E2A3A"/>
          </a:solidFill>
          <a:ln w="12700">
            <a:solidFill>
              <a:srgbClr val="A855F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3" name="Shape 31"/>
          <p:cNvSpPr/>
          <p:nvPr/>
        </p:nvSpPr>
        <p:spPr>
          <a:xfrm>
            <a:off x="6126480" y="3108960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4" name="Text 32"/>
          <p:cNvSpPr/>
          <p:nvPr/>
        </p:nvSpPr>
        <p:spPr>
          <a:xfrm>
            <a:off x="621792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720840" y="32186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for Governance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3703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access control, lineage tracking, and data discovery across all workspaces.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152f6a-2b78-4fa2-ae00-a99519405dce}" enabled="1" method="Privileged" siteId="{a2d8e6b4-e26e-4421-8f3d-ec288c827c7d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2156</TotalTime>
  <Words>1062</Words>
  <Application>Microsoft Macintosh PowerPoint</Application>
  <PresentationFormat>On-screen Show (16:9)</PresentationFormat>
  <Paragraphs>266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Databricks Architecture</dc:title>
  <dc:subject>PptxGenJS Presentation</dc:subject>
  <dc:creator>PptxGenJS</dc:creator>
  <cp:lastModifiedBy>Miranda, Emmanuelle</cp:lastModifiedBy>
  <cp:revision>2</cp:revision>
  <dcterms:created xsi:type="dcterms:W3CDTF">2026-03-12T03:49:32Z</dcterms:created>
  <dcterms:modified xsi:type="dcterms:W3CDTF">2026-03-13T16:19:33Z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PUBLIC</vt:lpwstr>
  </property>
</Properties>
</file>